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30" Type="http://schemas.openxmlformats.org/officeDocument/2006/relationships/viewProps" Target="viewProps.xml" /><Relationship Id="rId2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2" Type="http://schemas.openxmlformats.org/officeDocument/2006/relationships/tableStyles" Target="tableStyles.xml" /><Relationship Id="rId3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GenomeAI AgroAnimals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AI-помощник зоотехника для среднего молочного хозяйства</a:t>
            </a:r>
            <a:br/>
            <a:br/>
            <a:r>
              <a:rPr/>
              <a:t>Андрей Жиров, founder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2026-05-19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 — 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Заголовок:</a:t>
            </a:r>
            <a:r>
              <a:rPr/>
              <a:t> </a:t>
            </a:r>
            <a:r>
              <a:rPr b="1"/>
              <a:t>GenomeAI AgroAnimals</a:t>
            </a:r>
            <a:r>
              <a:rPr/>
              <a:t> </a:t>
            </a:r>
            <a:r>
              <a:rPr b="1"/>
              <a:t>Подзаголовок:</a:t>
            </a:r>
            <a:r>
              <a:rPr/>
              <a:t> AI-помощник зоотехника для среднего молочного хозяйства </a:t>
            </a:r>
            <a:r>
              <a:rPr b="1"/>
              <a:t>Tagline:</a:t>
            </a:r>
            <a:r>
              <a:rPr/>
              <a:t> «Видим проблемы за 2 дня до того, как видит ферма»</a:t>
            </a:r>
          </a:p>
          <a:p>
            <a:pPr lvl="0" indent="0" marL="0">
              <a:buNone/>
            </a:pPr>
            <a:r>
              <a:rPr/>
              <a:t>Visual: фото типичной российской МТФ с overlayed UI скриншотом /dashboard. Footer: Андрей Жиров, founder · andrew@genomeai.ru · genomeai.ru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2 — Problem (главный слайд)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Заголовок:</a:t>
            </a:r>
            <a:r>
              <a:rPr/>
              <a:t> «Данные есть. Но они везде, узнаем поздно, и решения принимаем на глаз»</a:t>
            </a:r>
          </a:p>
          <a:p>
            <a:pPr lvl="0" indent="0" marL="0">
              <a:buNone/>
            </a:pPr>
            <a:r>
              <a:rPr b="1"/>
              <a:t>Левая колонка — что увидели в 12 CustDev: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Боль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Подтвердили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Фрагментация: данные в 4–7 системах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12/12 (100%)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Узнаём о мастите/охоте на 3-5 дней позже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10/12 (83%)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Выбраковка «на глаз», без NPV расчёта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9/12 (75%)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Зависимость от зоотехника-человека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11/12 (92%)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Правая колонка — прямая цитата:</a:t>
            </a:r>
          </a:p>
          <a:p>
            <a:pPr lvl="0" indent="0" marL="0">
              <a:buNone/>
            </a:pPr>
            <a:r>
              <a:rPr/>
              <a:t>«Селэкс смотрю в одном окне, Excel в другом, доильный зал — отдельная программа. Чтоб собрать одну корову — 20 минут. У меня 400 голов.» — Зоотехник, ферма 400 коров, Воронежская обл.</a:t>
            </a:r>
          </a:p>
          <a:p>
            <a:pPr lvl="0" indent="0" marL="0">
              <a:buNone/>
            </a:pPr>
            <a:r>
              <a:rPr b="1"/>
              <a:t>Footer:</a:t>
            </a:r>
            <a:r>
              <a:rPr/>
              <a:t> «Метод: глубинные интервью 40–60 мин по структуре The Mom Test, география РФ + РБ, поголовье 150–1200» — ссылка на </a:t>
            </a:r>
            <a:r>
              <a:rPr>
                <a:latin typeface="Courier"/>
              </a:rPr>
              <a:t>01_customer_discovery_evidence.md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3 — Цена боли (что эти проблемы стоят ферме)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Заголовок:</a:t>
            </a:r>
            <a:r>
              <a:rPr/>
              <a:t> «Эти проблемы стоят средней ферме 500–2000 тыс. ₽/год»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Проблема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Денежная цена (ферма 400 голов)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Поздний мастит (доп. лечение + потери надоя × 88 случаев/год)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+158 000 ₽/год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Ошибочная выбраковка (1–2 случая/год × 80–120 тыс. ₽)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80–240 тыс ₽/год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Время зоотехника на склейку данных (2,1 ч/день × 8 000 ₽/час)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~400 тыс. ₽/год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Текучесть зоотехников (–10–25 % efficiency при смене раз в 3 года)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~300 тыс. ₽/год</a:t>
                      </a:r>
                      <a:r>
                        <a:rPr/>
                        <a:t> в год смены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Итого средняя ферма теряет:</a:t>
            </a:r>
            <a:r>
              <a:rPr/>
              <a:t> ~1 млн ₽/год </a:t>
            </a:r>
            <a:r>
              <a:rPr b="1"/>
              <a:t>просто из-за плохой digitalization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Source: расчёты на основе CustDev + Wood-curve экономики (</a:t>
            </a:r>
            <a:r>
              <a:rPr>
                <a:latin typeface="Courier"/>
              </a:rPr>
              <a:t>docs/economics_v2.md</a:t>
            </a:r>
            <a:r>
              <a:rPr/>
              <a:t>).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4 — Solution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Заголовок:</a:t>
            </a:r>
            <a:r>
              <a:rPr/>
              <a:t> «GenomeAI — единый AI-помощник зоотехника на основе данных стада»</a:t>
            </a:r>
          </a:p>
          <a:p>
            <a:pPr lvl="0" indent="0" marL="0">
              <a:buNone/>
            </a:pPr>
            <a:r>
              <a:rPr/>
              <a:t>3 колонки (с UI скриншотами):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 Единый контекст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 Ранний сигнал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 NPV-выбраковка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Селэкс/1С/доильный зал/IoT → один экран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Сканер инсайтов: мастит, охота, отклонения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NPV по корове в ₽ + рекомендация keep/cull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Время от 2,1 ч/день → 15 мин/день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Сигнал за 2–3 дня до клиники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Точное решение вместо «на глаз»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Footer:</a:t>
            </a:r>
            <a:r>
              <a:rPr/>
              <a:t> «MVP закрывает 3 из 5 валидированных болей» (1, 2, 4 из матрицы CustDev — см. </a:t>
            </a:r>
            <a:r>
              <a:rPr>
                <a:latin typeface="Courier"/>
              </a:rPr>
              <a:t>01_customer_discovery_evidence.md</a:t>
            </a:r>
            <a:r>
              <a:rPr/>
              <a:t> §4)</a:t>
            </a:r>
          </a:p>
          <a:p>
            <a:pPr lvl="0" indent="0" marL="0">
              <a:buNone/>
            </a:pPr>
            <a:r>
              <a:rPr/>
              <a:t>Что отложено в roadmap (а не «много фич»): - Анализ влияния (P3-1) — после первых 3 платных пилотов - AI-чат с фермой — после интеграции ≥2 коннекторов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 — Why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Заголовок:</a:t>
            </a:r>
            <a:r>
              <a:rPr/>
              <a:t> «Окно для русского молочного AI открыто прямо сейчас»</a:t>
            </a:r>
          </a:p>
          <a:p>
            <a:pPr lvl="0" indent="0" marL="0">
              <a:buNone/>
            </a:pPr>
            <a:r>
              <a:rPr/>
              <a:t>3 драйвера:</a:t>
            </a:r>
          </a:p>
          <a:p>
            <a:pPr lvl="0" indent="0" marL="0">
              <a:buNone/>
            </a:pPr>
            <a:r>
              <a:rPr/>
              <a:t>🟢 </a:t>
            </a:r>
            <a:r>
              <a:rPr b="1"/>
              <a:t>Дефицит зоотехников</a:t>
            </a:r>
            <a:r>
              <a:rPr/>
              <a:t> — потребность ×2,3 предложения (Минсельхоз 2024). Кадры дешевле автоматизировать чем нанимать.</a:t>
            </a:r>
          </a:p>
          <a:p>
            <a:pPr lvl="0" indent="0" marL="0">
              <a:buNone/>
            </a:pPr>
            <a:r>
              <a:rPr/>
              <a:t>🟢 </a:t>
            </a:r>
            <a:r>
              <a:rPr b="1"/>
              <a:t>Импортозамещение в IT</a:t>
            </a:r>
            <a:r>
              <a:rPr/>
              <a:t> — DeLaval / GEA cloud сворачивают support в РФ → ниша на ~600 крупных СХО.</a:t>
            </a:r>
          </a:p>
          <a:p>
            <a:pPr lvl="0" indent="0" marL="0">
              <a:buNone/>
            </a:pPr>
            <a:r>
              <a:rPr/>
              <a:t>🟢 </a:t>
            </a:r>
            <a:r>
              <a:rPr b="1"/>
              <a:t>Цифровой АПК</a:t>
            </a:r>
            <a:r>
              <a:rPr/>
              <a:t> — госпрограмма + субсидии до 50 % на цифровые инструменты для СХО.</a:t>
            </a:r>
          </a:p>
          <a:p>
            <a:pPr lvl="0" indent="0" marL="0">
              <a:buNone/>
            </a:pPr>
            <a:r>
              <a:rPr/>
              <a:t>🟢 </a:t>
            </a:r>
            <a:r>
              <a:rPr b="1"/>
              <a:t>AI-momentum</a:t>
            </a:r>
            <a:r>
              <a:rPr/>
              <a:t> — LLM позволяют делать NLP-помощника зоотехнику за себестоимость </a:t>
            </a:r>
            <a:r>
              <a:rPr b="1"/>
              <a:t>~$5–15/мес/ферма</a:t>
            </a:r>
            <a:r>
              <a:rPr/>
              <a:t> (см. </a:t>
            </a:r>
            <a:r>
              <a:rPr>
                <a:latin typeface="Courier"/>
              </a:rPr>
              <a:t>docs/investor_faq_ru.md</a:t>
            </a:r>
            <a:r>
              <a:rPr/>
              <a:t> q.9).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6 — Market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Заголовок:</a:t>
            </a:r>
            <a:r>
              <a:rPr/>
              <a:t> «Российский молочный SaaS — $15M TAM, ~$9M SAM, beach-head 6 000 ферм»</a:t>
            </a:r>
          </a:p>
          <a:p>
            <a:pPr lvl="0" indent="0" marL="0">
              <a:buNone/>
            </a:pPr>
            <a:r>
              <a:rPr/>
              <a:t>Карта-схема + цифры: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Сегмент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₽/год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Все молочные хозяйства ≥150 голов РФ + РБ + СНГ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~1,4 млрд ₽</a:t>
                      </a:r>
                      <a:r>
                        <a:rPr/>
                        <a:t> (~$15M ARR)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 интернет, готовы рассматривать SaaS, decision-maker доступен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~790 млн ₽</a:t>
                      </a:r>
                      <a:r>
                        <a:rPr/>
                        <a:t> (~$8,8M ARR)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SOM</a:t>
                      </a:r>
                      <a:r>
                        <a:rPr/>
                        <a:t> Y3 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120 customers × 300k ₽/год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~36 млн ₽</a:t>
                      </a:r>
                      <a:r>
                        <a:rPr/>
                        <a:t> ARR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Konkurrenz-tier:</a:t>
            </a:r>
            <a:r>
              <a:rPr/>
              <a:t> - </a:t>
            </a:r>
            <a:r>
              <a:rPr b="1"/>
              <a:t>Селэкс</a:t>
            </a:r>
            <a:r>
              <a:rPr/>
              <a:t> (старый, 25 лет, госзаказ) — стандарт де-факто, но без AI, real-time, web/mobile - </a:t>
            </a:r>
            <a:r>
              <a:rPr b="1"/>
              <a:t>1С: Зоотехния</a:t>
            </a:r>
            <a:r>
              <a:rPr/>
              <a:t> — 1С-экосистема, но не специализированное - </a:t>
            </a:r>
            <a:r>
              <a:rPr b="1"/>
              <a:t>DeLaval/GEA</a:t>
            </a:r>
            <a:r>
              <a:rPr/>
              <a:t> (импортный) — уходят из РФ</a:t>
            </a:r>
          </a:p>
          <a:p>
            <a:pPr lvl="0" indent="0" marL="0">
              <a:buNone/>
            </a:pPr>
            <a:r>
              <a:rPr b="1"/>
              <a:t>Где играем:</a:t>
            </a:r>
            <a:r>
              <a:rPr/>
              <a:t> на ценовом уровне 1С: Зоотехния (~180k ₽/год), с фундаментально другими capabilities (AI + real-time + NPV).</a:t>
            </a:r>
          </a:p>
          <a:p>
            <a:pPr lvl="0" indent="0" marL="0">
              <a:buNone/>
            </a:pPr>
            <a:r>
              <a:rPr/>
              <a:t>Source: </a:t>
            </a:r>
            <a:r>
              <a:rPr>
                <a:latin typeface="Courier"/>
              </a:rPr>
              <a:t>03_market_sizing.md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7 — Business model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Заголовок:</a:t>
            </a:r>
            <a:r>
              <a:rPr/>
              <a:t> «SaaS подписка от ₽/голову/месяц, средний ARPU ~180 000 ₽/год»</a:t>
            </a:r>
          </a:p>
          <a:p>
            <a:pPr lvl="0" indent="0" marL="0">
              <a:buNone/>
            </a:pPr>
            <a:r>
              <a:rPr b="1"/>
              <a:t>Pricing tiers</a:t>
            </a:r>
            <a:r>
              <a:rPr/>
              <a:t> (см. </a:t>
            </a:r>
            <a:r>
              <a:rPr>
                <a:latin typeface="Courier"/>
              </a:rPr>
              <a:t>04_business_model.md</a:t>
            </a:r>
            <a:r>
              <a:rPr/>
              <a:t>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Размер фермы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₽/голову/мес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Среднее ARPU/год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Starter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150–300 голов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 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150 000 ₽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Growth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300–700 голов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35 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210 000 ₽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700–1 200 голов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 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270 000 ₽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Unit econ (base scenario):</a:t>
            </a:r>
            <a:r>
              <a:rPr/>
              <a:t> - ARPU: 180 000 ₽/год - Gross margin: </a:t>
            </a:r>
            <a:r>
              <a:rPr b="1"/>
              <a:t>78 %</a:t>
            </a:r>
            <a:r>
              <a:rPr/>
              <a:t> (Claude API + cloud + поддержка ≈ 22 % от выручки) - CAC target: 135 000 ₽ (1× ARPU; быстрый payback) - LTV @ 60 мес retention: 9 млн ₽ × 0.78 = </a:t>
            </a:r>
            <a:r>
              <a:rPr b="1"/>
              <a:t>7,0 млн ₽</a:t>
            </a:r>
            <a:r>
              <a:rPr/>
              <a:t> - </a:t>
            </a:r>
            <a:r>
              <a:rPr b="1"/>
              <a:t>LTV/CAC: 50× target / 16× base</a:t>
            </a:r>
            <a:r>
              <a:rPr/>
              <a:t> (target цифра, валидируется на первых сделках) - Payback: 9 месяцев в base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8 — Traction (честный слайд)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Заголовок:</a:t>
            </a:r>
            <a:r>
              <a:rPr/>
              <a:t> «Customer Discovery завершён, paid pilots запускаются в M+1»</a:t>
            </a:r>
          </a:p>
          <a:p>
            <a:pPr lvl="0" indent="0" marL="0">
              <a:buNone/>
            </a:pPr>
            <a:r>
              <a:rPr b="1"/>
              <a:t>Что сделано:</a:t>
            </a:r>
            <a:r>
              <a:rPr/>
              <a:t> - ✅ </a:t>
            </a:r>
            <a:r>
              <a:rPr b="1"/>
              <a:t>12 глубинных интервью</a:t>
            </a:r>
            <a:r>
              <a:rPr/>
              <a:t> (РФ + РБ, ферма 150–1200 голов) → 5 валидированных болей с %% подтверждения - ✅ </a:t>
            </a:r>
            <a:r>
              <a:rPr b="1"/>
              <a:t>MVP-функционал готов</a:t>
            </a:r>
            <a:r>
              <a:rPr/>
              <a:t>: единый dashboard, сканер инсайтов, NPV-калькулятор, лента событий → демонстрируем live - ✅ </a:t>
            </a:r>
            <a:r>
              <a:rPr b="1"/>
              <a:t>Тех-стек enterprise-ready</a:t>
            </a:r>
            <a:r>
              <a:rPr/>
              <a:t>: Postgres + Redis + MinIO + Next.js, развёрнут на genomeai.ru, HTTPS, audit log</a:t>
            </a:r>
          </a:p>
          <a:p>
            <a:pPr lvl="0" indent="0" marL="0">
              <a:buNone/>
            </a:pPr>
            <a:r>
              <a:rPr b="1"/>
              <a:t>Что в следующие 6 недель</a:t>
            </a:r>
            <a:r>
              <a:rPr/>
              <a:t> (см. </a:t>
            </a:r>
            <a:r>
              <a:rPr>
                <a:latin typeface="Courier"/>
              </a:rPr>
              <a:t>06_gtm_plan.md</a:t>
            </a:r>
            <a:r>
              <a:rPr/>
              <a:t> + </a:t>
            </a:r>
            <a:r>
              <a:rPr>
                <a:latin typeface="Courier"/>
              </a:rPr>
              <a:t>07_pilot_pipeline.md</a:t>
            </a:r>
            <a:r>
              <a:rPr/>
              <a:t>): - 🚀 </a:t>
            </a:r>
            <a:r>
              <a:rPr b="1"/>
              <a:t>50 ферм</a:t>
            </a:r>
            <a:r>
              <a:rPr/>
              <a:t> outreach (центр + Беларусь, target ICP A) - 🚀 </a:t>
            </a:r>
            <a:r>
              <a:rPr b="1"/>
              <a:t>5 demo</a:t>
            </a:r>
            <a:r>
              <a:rPr/>
              <a:t> запланировано - 🚀 </a:t>
            </a:r>
            <a:r>
              <a:rPr b="1"/>
              <a:t>3 платных пилота</a:t>
            </a:r>
            <a:r>
              <a:rPr/>
              <a:t> (45 000 ₽/2 месяца каждый = 135 000 ₽ commitment)</a:t>
            </a:r>
          </a:p>
          <a:p>
            <a:pPr lvl="0" indent="0" marL="0">
              <a:buNone/>
            </a:pPr>
            <a:r>
              <a:rPr b="1"/>
              <a:t>Что не делаем (честно):</a:t>
            </a:r>
            <a:r>
              <a:rPr/>
              <a:t> - ❌ Не пишем что у нас 100 customers. Пилотов 0. - ❌ Не обещаем виральный рост — рынок неклиикабельный, B2B sales-led.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9 — GTM (как мы дойдём до клиента)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Заголовок:</a:t>
            </a:r>
            <a:r>
              <a:rPr/>
              <a:t> «Founder-led sales, 3 канала, конкретный outreach script»</a:t>
            </a:r>
          </a:p>
          <a:p>
            <a:pPr lvl="0" indent="0" marL="0">
              <a:buNone/>
            </a:pPr>
            <a:r>
              <a:rPr b="1"/>
              <a:t>Sales motion:</a:t>
            </a:r>
            <a:r>
              <a:rPr/>
              <a:t> Inside sales + founder-led, без отдельной sales-команды до 10 платных пилотов.</a:t>
            </a:r>
          </a:p>
          <a:p>
            <a:pPr lvl="0" indent="0" marL="0">
              <a:buNone/>
            </a:pPr>
            <a:r>
              <a:rPr b="1"/>
              <a:t>3 канала: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Канал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Кто отвечает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Y1 target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1. Cold outreach</a:t>
                      </a:r>
                      <a:r>
                        <a:rPr/>
                        <a:t> (email + звонок)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Founder + 1 продажник из M+3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 leads/мес → 6 demo/мес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2. Партнёрство с региональными союзами</a:t>
                      </a:r>
                      <a:r>
                        <a:rPr/>
                        <a:t> (Союзмолоко regional chapters)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Founder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1–2 introduced lead/мес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3. Выставки</a:t>
                      </a:r>
                      <a:r>
                        <a:rPr/>
                        <a:t> (АгроФерма Москва, Молочная и Мясная Россия)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Founder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10–15 hot leads /выставка × 2 выставки/год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Outreach hook</a:t>
            </a:r>
            <a:r>
              <a:rPr/>
              <a:t> (cold email): «158 000 ₽/год экономии на мастите для фермы 400 голов — давайте покажу как» (см. конкретный script в </a:t>
            </a:r>
            <a:r>
              <a:rPr>
                <a:latin typeface="Courier"/>
              </a:rPr>
              <a:t>06_gtm_plan.md</a:t>
            </a:r>
            <a:r>
              <a:rPr/>
              <a:t> §5).</a:t>
            </a:r>
          </a:p>
          <a:p>
            <a:pPr lvl="0" indent="0" marL="0">
              <a:buNone/>
            </a:pPr>
            <a:r>
              <a:rPr b="1"/>
              <a:t>6-недельный sprint</a:t>
            </a:r>
            <a:r>
              <a:rPr/>
              <a:t> план: см. </a:t>
            </a:r>
            <a:r>
              <a:rPr>
                <a:latin typeface="Courier"/>
              </a:rPr>
              <a:t>06_gtm_plan.md</a:t>
            </a:r>
            <a:r>
              <a:rPr/>
              <a:t> §2.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10 — Funnel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Заголовок:</a:t>
            </a:r>
            <a:r>
              <a:rPr/>
              <a:t> «Honest pipeline conversion для seed-этапа»</a:t>
            </a:r>
          </a:p>
          <a:p>
            <a:pPr lvl="0" indent="0">
              <a:buNone/>
            </a:pPr>
            <a:r>
              <a:rPr>
                <a:latin typeface="Courier"/>
              </a:rPr>
              <a:t>50 outreach leads
    ↓ 50% reply rate (cold)
25 первичных контактов
    ↓ 40% дошли до demo
10 проведено demo
    ↓ 50% после demo — pilot LOI
5 LOI подписано
    ↓ 60% LOI → paid pilot
3 платных пилота
    ↓ 70% pilot → MRR (по success criteria)
2 платящих customers</a:t>
            </a:r>
          </a:p>
          <a:p>
            <a:pPr lvl="0" indent="0" marL="0">
              <a:buNone/>
            </a:pPr>
            <a:r>
              <a:rPr b="1"/>
              <a:t>Y1 (6 месяцев активного sales):</a:t>
            </a:r>
            <a:r>
              <a:rPr/>
              <a:t> </a:t>
            </a:r>
            <a:r>
              <a:rPr b="1"/>
              <a:t>10–12 платящих customers</a:t>
            </a:r>
            <a:r>
              <a:rPr/>
              <a:t> </a:t>
            </a:r>
            <a:r>
              <a:rPr b="1"/>
              <a:t>Y2 (Series A scale, +sales hires):</a:t>
            </a:r>
            <a:r>
              <a:rPr/>
              <a:t> </a:t>
            </a:r>
            <a:r>
              <a:rPr b="1"/>
              <a:t>40 customers</a:t>
            </a:r>
            <a:r>
              <a:rPr/>
              <a:t> </a:t>
            </a:r>
            <a:r>
              <a:rPr b="1"/>
              <a:t>Y3 (региональная экспансия):</a:t>
            </a:r>
            <a:r>
              <a:rPr/>
              <a:t> </a:t>
            </a:r>
            <a:r>
              <a:rPr b="1"/>
              <a:t>120 customers</a:t>
            </a:r>
          </a:p>
          <a:p>
            <a:pPr lvl="0" indent="0" marL="0">
              <a:buNone/>
            </a:pPr>
            <a:r>
              <a:rPr/>
              <a:t>См. </a:t>
            </a:r>
            <a:r>
              <a:rPr>
                <a:latin typeface="Courier"/>
              </a:rPr>
              <a:t>07_pilot_pipeline.md</a:t>
            </a:r>
            <a:r>
              <a:rPr/>
              <a:t> для конкретных шагов 1-2-3.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11 — Pilot framework (как получаем деньги)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Заголовок:</a:t>
            </a:r>
            <a:r>
              <a:rPr/>
              <a:t> «Не free пилоты — paid, со ₽-обязательством, success criteria и data-sharing»</a:t>
            </a:r>
          </a:p>
          <a:p>
            <a:pPr lvl="0" indent="0" marL="0">
              <a:buNone/>
            </a:pPr>
            <a:r>
              <a:rPr b="1"/>
              <a:t>Pilot agreement</a:t>
            </a:r>
            <a:r>
              <a:rPr/>
              <a:t> (LOI template — см. </a:t>
            </a:r>
            <a:r>
              <a:rPr>
                <a:latin typeface="Courier"/>
              </a:rPr>
              <a:t>07_pilot_pipeline.md</a:t>
            </a:r>
            <a:r>
              <a:rPr/>
              <a:t>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Параметр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Значение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Длительность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месяца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Стоимость пилота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45 000 ₽</a:t>
                      </a:r>
                      <a:r>
                        <a:rPr/>
                        <a:t> (платится upfront)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Scope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Интеграция Селэкс CSV + 1 модуль (мастит-scanner ИЛИ NPV-калькулятор)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Success criteria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≥1 из: (a) сэкономлено ≥30 ч времени зоотехника, (b) выявлен ≥1 мастит до клиники, (c) принято ≥1 cull-решение с обоснованием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ownership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Ферма — owner; мы получаем anonymized aggregates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Conversion to MRR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После пилота: 50 % скидка на первые 6 мес, target ARPU достигается на M9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Зачем платный, а не free:</a:t>
            </a:r>
            <a:r>
              <a:rPr/>
              <a:t> 1. Платный пилот → commitment с обеих сторон. Free пилот часто бросают. 2. 45 000 ₽ — символическая сумма для агрохолдинга, но это </a:t>
            </a:r>
            <a:r>
              <a:rPr b="1"/>
              <a:t>psychological barrier crossed</a:t>
            </a:r>
            <a:r>
              <a:rPr/>
              <a:t>. 3. Это traction для будущих инвесторов: «у нас не игрушка — мы продаём».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12 — Financials (P&amp;L 3 года, base scenario)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Заголовок:</a:t>
            </a:r>
            <a:r>
              <a:rPr/>
              <a:t> «Bear / Base / Bull сценарии — три цифры с поясняющими assumptions»</a:t>
            </a:r>
          </a:p>
          <a:p>
            <a:pPr lvl="0" indent="0" marL="0">
              <a:buNone/>
            </a:pPr>
            <a:r>
              <a:rPr/>
              <a:t>Краткая таблица (по годам):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Y1 (H2 2026 → 2027)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Y2 (2028)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Y3 (2029)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Customers (cumul.)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1,8 млн 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9,6 млн 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36 млн ₽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GP (78 % margin)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1,4 млн 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7,5 млн 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28 млн ₽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 млн 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35 млн 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 млн ₽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EBITDA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−16,6 млн 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−27,5 млн 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−22 млн ₽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Cumulative burn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16,6 млн 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44 млн 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66 млн ₽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Runway scenarios: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Сценарий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Y3 ARR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Pre-runway раунд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8–12 млн 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$300k seed → $1.5M Series A в M+24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36 млн 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$500k seed → $3–4M Series A в M+18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90–120 млн 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$500k seed → $7–10M Series A в M+15 + холдинг partnership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Ask текущего раунда:</a:t>
            </a:r>
            <a:r>
              <a:rPr/>
              <a:t> </a:t>
            </a:r>
            <a:r>
              <a:rPr b="1"/>
              <a:t>$500k seed (~45 млн ₽)</a:t>
            </a:r>
            <a:r>
              <a:rPr/>
              <a:t> на 18 месяцев runway, разбито: - 50 % Sales (founder + 1 sales hire в M+4) - 30 % Product (1 backend + 1 ML hire, AI cost growth) - 20 % G&amp;A + legal + first marketing experiments</a:t>
            </a:r>
          </a:p>
          <a:p>
            <a:pPr lvl="0" indent="0" marL="0">
              <a:buNone/>
            </a:pPr>
            <a:r>
              <a:rPr/>
              <a:t>Подробно: </a:t>
            </a:r>
            <a:r>
              <a:rPr>
                <a:latin typeface="Courier"/>
              </a:rPr>
              <a:t>05_financial_model.md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13 — Product roadmap (что после MVP)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Заголовок:</a:t>
            </a:r>
            <a:r>
              <a:rPr/>
              <a:t> «Не «много фич», а очерёдность от валидированных болей»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Когда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Что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Какую боль закрывает (из CustDev)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Сегодня (MVP, демо live)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Единый dashboard, мастит-scanner, NPV-калькулятор, лента событий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Боль #1 (12/12), Боль #2 (10/12), Боль #4 (11/12)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M+3 → M+6</a:t>
                      </a:r>
                      <a:r>
                        <a:rPr/>
                        <a:t> (после первых пилотов)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Анализ влияния решений (ROI attribution)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Боль #5 (8/12)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M+6 → M+12</a:t>
                      </a:r>
                      <a:r>
                        <a:rPr/>
                        <a:t> (после первых MRR)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Расширение коннекторов: 1С: Зоотехния, DeLaval CSV-export, IoT-ошейники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Усиление Боли #1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M+12 → M+24</a:t>
                      </a:r>
                      <a:r>
                        <a:rPr/>
                        <a:t> (Series A эра)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AI-помощник «спроси ферму» — full LLM chat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Дополнительный value, не основной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Что НЕ делаем сейчас</a:t>
            </a:r>
            <a:r>
              <a:rPr/>
              <a:t> (отвечает на «космолёт»): - ❌ Не строим собственный IoT-ошейник - ❌ Не делаем кормораздачу - ❌ Не предсказываем погоду/цены/политику - ❌ Не добавляем «больше AI» — сначала валидируем что текущий AI решает боль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14 —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Заголовок:</a:t>
            </a:r>
            <a:r>
              <a:rPr/>
              <a:t> Команда</a:t>
            </a:r>
          </a:p>
          <a:p>
            <a:pPr lvl="0" indent="0" marL="0">
              <a:buNone/>
            </a:pPr>
            <a:r>
              <a:rPr/>
              <a:t>[заглушка — заполняется реальным составом]</a:t>
            </a:r>
          </a:p>
          <a:p>
            <a:pPr lvl="0"/>
            <a:r>
              <a:rPr b="1"/>
              <a:t>CEO / Founder</a:t>
            </a:r>
            <a:r>
              <a:rPr/>
              <a:t> — [имя], домен-эксперт + полный стек разработки</a:t>
            </a:r>
          </a:p>
          <a:p>
            <a:pPr lvl="0"/>
            <a:r>
              <a:rPr b="1"/>
              <a:t>Тех-лид</a:t>
            </a:r>
            <a:r>
              <a:rPr/>
              <a:t> — [имя], архитектура backend / ML</a:t>
            </a:r>
          </a:p>
          <a:p>
            <a:pPr lvl="0"/>
            <a:r>
              <a:rPr b="1"/>
              <a:t>Зоо-эксперт</a:t>
            </a:r>
            <a:r>
              <a:rPr/>
              <a:t> — [имя], 10+ лет в молочном животноводстве (advisor для validation)</a:t>
            </a:r>
          </a:p>
          <a:p>
            <a:pPr lvl="0"/>
            <a:r>
              <a:rPr b="1"/>
              <a:t>GenomeAI как продукт</a:t>
            </a:r>
            <a:r>
              <a:rPr/>
              <a:t> — это inкарнация диссертации по AI в АПК, ИТМО</a:t>
            </a:r>
          </a:p>
          <a:p>
            <a:pPr lvl="0" indent="0" marL="0">
              <a:buNone/>
            </a:pPr>
            <a:r>
              <a:rPr b="1"/>
              <a:t>Зачем мы:</a:t>
            </a:r>
            <a:r>
              <a:rPr/>
              <a:t> combination tech founder + domain expertise + zoo-advisor — редкая для русского agritech. Подобные команды (DairyComp, Vas-Y) в США/Канаде стали defining playerами рынка.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15 — Ask + use of funds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Заголовок:</a:t>
            </a:r>
            <a:r>
              <a:rPr/>
              <a:t> «$500k seed → 10 платных customers → Series A через 18 месяцев»</a:t>
            </a:r>
          </a:p>
          <a:p>
            <a:pPr lvl="0" indent="0" marL="0">
              <a:buNone/>
            </a:pPr>
            <a:r>
              <a:rPr b="1"/>
              <a:t>Что просим:</a:t>
            </a:r>
            <a:r>
              <a:rPr/>
              <a:t> $500k (~45 млн ₽) seed @ 8 % equity (~5,6 млн pre-money valuation) → standard SAFE.</a:t>
            </a:r>
          </a:p>
          <a:p>
            <a:pPr lvl="0" indent="0" marL="0">
              <a:buNone/>
            </a:pPr>
            <a:r>
              <a:rPr b="1"/>
              <a:t>Как используем:</a:t>
            </a:r>
          </a:p>
          <a:p>
            <a:pPr lvl="0" indent="0">
              <a:buNone/>
            </a:pPr>
            <a:r>
              <a:rPr>
                <a:latin typeface="Courier"/>
              </a:rPr>
              <a:t>50% Sales &amp; Marketing       ₽22,5 млн
   ├ Founder (sales): salary    ₽9 млн
   ├ Sales hire M+4              ₽8 млн (12 мес)
   ├ 2 выставки + travel         ₽3 млн
   └ Outreach tools + CRM        ₽2,5 млн
30% Product                  ₽13,5 млн
   ├ Backend engineer M+1        ₽6 млн (12 мес)
   ├ ML engineer M+6             ₽4 млн (6 мес)
   ├ Claude API + cloud burn     ₽3,5 млн (rising w/ usage)
20% G&amp;A + legal + safety net ₽9 млн
   ├ Office, legal, accounting   ₽4 млн
   ├ Pilot infra + onboarding    ₽3 млн
   └ Reserve (1 квартал buffer)  ₽2 млн</a:t>
            </a:r>
          </a:p>
          <a:p>
            <a:pPr lvl="0" indent="0" marL="0">
              <a:buNone/>
            </a:pPr>
            <a:r>
              <a:rPr b="1"/>
              <a:t>KPI на 18 месяцев:</a:t>
            </a:r>
            <a:r>
              <a:rPr/>
              <a:t> - 10 платящих customers @ 180k ₽/год ARR - LTV/CAC validated ≥4× (target 16× из модели) - Partnership signed с ≥1 региональным союзом (Союзмолоко regional chapter) - Series A pitch ready @ M+15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16 — Q &amp; A / Backup slides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Backup slides on demand: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Backup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Когда показать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#B1 — Полная Pain Matrix с прямыми цитатами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«А вы точно поговорили с фермерами?»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#B2 — Конкурентная таблица фичей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«Чем вы лучше Селэкса?»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#B3 — Sensitivity sensitivity P&amp;L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«А что если CAC × 2?»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#B4 — Тех-архитектура (Postgres + Redis + MinIO + Next.js)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«Можно ли это масштабировать?»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#B5 — Pilot agreement template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«Как именно подписываете пилот?»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#B6 — Roadmap по месяцам с зависимостями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«Когда конкретно фича X?»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#B7 — Конкретный outreach script (cold email + voice)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«Покажите как продаёте?»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GenomeAI AgroAnimals</dc:title>
  <dc:creator>Андрей Жиров, founder</dc:creator>
  <cp:keywords/>
  <dcterms:created xsi:type="dcterms:W3CDTF">2026-05-19T13:31:50Z</dcterms:created>
  <dcterms:modified xsi:type="dcterms:W3CDTF">2026-05-19T13:31:50Z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2026-05-19</vt:lpwstr>
  </property>
  <property fmtid="{D5CDD505-2E9C-101B-9397-08002B2CF9AE}" pid="3" name="subtitle">
    <vt:lpwstr>AI-помощник зоотехника для среднего молочного хозяйства</vt:lpwstr>
  </property>
</Properties>
</file>